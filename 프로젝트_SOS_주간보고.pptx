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SOS 주간보고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502920"/>
            <a:ext cx="2249424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30352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2249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현장 방문·상담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(분당SP·판교FF·여의도SP)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615184" y="502920"/>
            <a:ext cx="2249424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7" name="Text 5"/>
          <p:cNvSpPr/>
          <p:nvPr/>
        </p:nvSpPr>
        <p:spPr>
          <a:xfrm>
            <a:off x="2615184" y="530352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615184" y="868680"/>
            <a:ext cx="2249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산출물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(HTML·Excel·Word·PPT×2)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956048" y="502920"/>
            <a:ext cx="2249424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10" name="Text 8"/>
          <p:cNvSpPr/>
          <p:nvPr/>
        </p:nvSpPr>
        <p:spPr>
          <a:xfrm>
            <a:off x="4956048" y="530352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956048" y="868680"/>
            <a:ext cx="2249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표·계산식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재검증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296912" y="502920"/>
            <a:ext cx="2249424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13" name="Text 11"/>
          <p:cNvSpPr/>
          <p:nvPr/>
        </p:nvSpPr>
        <p:spPr>
          <a:xfrm>
            <a:off x="7296912" y="530352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296912" y="868680"/>
            <a:ext cx="2249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전체 재계산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(100·120·150평·판교)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37776" y="502920"/>
            <a:ext cx="2249424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16" name="Text 14"/>
          <p:cNvSpPr/>
          <p:nvPr/>
        </p:nvSpPr>
        <p:spPr>
          <a:xfrm>
            <a:off x="9637776" y="530352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3건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637776" y="868680"/>
            <a:ext cx="2249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견적서 확보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(전기·냉난방·소방)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417320"/>
          <a:ext cx="11612880" cy="457200"/>
        </p:xfrm>
        <a:graphic>
          <a:graphicData uri="http://schemas.openxmlformats.org/drawingml/2006/table">
            <a:tbl>
              <a:tblPr/>
              <a:tblGrid>
                <a:gridCol w="5806440"/>
                <a:gridCol w="5806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진행사항(6/28~7/4)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예정사항(7/5~7/11)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74520"/>
          <a:ext cx="11612880" cy="4754880"/>
        </p:xfrm>
        <a:graphic>
          <a:graphicData uri="http://schemas.openxmlformats.org/drawingml/2006/table">
            <a:tbl>
              <a:tblPr/>
              <a:tblGrid>
                <a:gridCol w="5806440"/>
                <a:gridCol w="5806440"/>
              </a:tblGrid>
              <a:tr h="4754880">
                <a:tc>
                  <a:txBody>
                    <a:bodyPr/>
                    <a:lstStyle/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SOS 수익성 모델 전체 설계·구축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배치도(룸 배치·문·복도) 기준으로 좌석·룸수·매출이 자동 산출되는 계산 엔진 구축(4개 모델)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가격정책을 "BEP 65% 역산가 + 경쟁사 상한 체크" 방식으로 확정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경쟁사 현장 상담·방문 및 실자료 확보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분당 스파크플러스, 판교 패스트파이브 상담 및 견적 확인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여의도 스파크플러스 현장 방문 및 수치·견적 확인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확보한 실계약서·입주제안서로 실거래가·크레딧 조건 대조 검증(분당2호점·여의도 등)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회원보증금 산정식도 SP 실계약 5건 대조로 검증 후 신규 반영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 매물 실측 확정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판교(에이치스퀘어 S동 B1)·분당 100/120/150평 매물 임대조건(월세·보증금) 실측 확정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CAPEX 항목 실제 견적서 기반 검증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소방·냉난방·인테리어·도어락·보안 등 실제 견적서/계약서로 단가 검증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금주 후반: 전기통신 7→4만/평, 보안 200→86만 추가 실측 보정 및 4개 모델 전체 재계산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배치도·가구배치 반복 설계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 위치·책상 배치·비정형 손실 구간 등 실측 렌더링 검증 반복(책상 1200×700mm 최종 반영)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 통합 및 산출물 확장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보고서를 SOS_최종보고서.html 하나로 통합, 현금흐름 워터폴 표 등 투명성 개선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Excel(표 20개 시트)·워드 사업계획서·투자설득 PPT·주간보고 PPT까지 산출물 다각화(금주 후반)</a:t>
                      </a:r>
                      <a:endParaRPr lang="en-US" sz="1200" dirty="0"/>
                    </a:p>
                  </a:txBody>
                  <a:tcPr marL="127000" marR="127000" marT="127000" marB="127000" anchor="t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1~4인실 수요 데이터 보강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SP·FF 추가 지점 도면·제안서 확보하여 룸타입별 분포 비교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CAPEX 미검증 항목 정식 견적 전환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도어락·가구·라운지가구 등 가견적 항목 실측 견적 확보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※ 매물 실사(근생 용도·전대·소방)는 내부 투자승인 이후 착수 예정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마감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워드 사업계획서 최종 검토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부사장 보고용 발표 PPT 요약본 제작</a:t>
                      </a:r>
                      <a:endParaRPr lang="en-US" sz="1200" dirty="0"/>
                    </a:p>
                  </a:txBody>
                  <a:tcPr marL="127000" marR="127000" marT="127000" marB="127000" anchor="t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로드맵(2026년) — SOS 코워킹 신규 출점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566928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러프 스케치 — 확정 일정 아님, 매물 실사 결과에 따라 변동 가능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737360" y="9601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(7~9월)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0" y="9601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 (10~12월)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321040" y="9601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'27 Q1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11612880" cy="0"/>
          </a:xfrm>
          <a:prstGeom prst="line">
            <a:avLst/>
          </a:prstGeom>
          <a:noFill/>
          <a:ln w="19050">
            <a:solidFill>
              <a:srgbClr val="1F4F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554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사업성 검증・투자승인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37360" y="1554480"/>
            <a:ext cx="822960" cy="548640"/>
          </a:xfrm>
          <a:prstGeom prst="roundRect">
            <a:avLst>
              <a:gd name="adj" fmla="val 10000"/>
            </a:avLst>
          </a:prstGeom>
          <a:solidFill>
            <a:srgbClr val="1F4F99"/>
          </a:solidFill>
          <a:ln/>
        </p:spPr>
      </p:sp>
      <p:sp>
        <p:nvSpPr>
          <p:cNvPr id="10" name="Text 8"/>
          <p:cNvSpPr/>
          <p:nvPr/>
        </p:nvSpPr>
        <p:spPr>
          <a:xfrm>
            <a:off x="1737360" y="155448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모델링·검증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 rot="-480000">
            <a:off x="2057400" y="1298448"/>
            <a:ext cx="640080" cy="320040"/>
          </a:xfrm>
          <a:prstGeom prst="rect">
            <a:avLst/>
          </a:prstGeom>
          <a:solidFill>
            <a:srgbClr val="D7F2E1"/>
          </a:solidFill>
          <a:ln w="9525">
            <a:solidFill>
              <a:srgbClr val="1683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8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0" y="155448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3B6FC4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55448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투자승인(7월 중순)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2423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 확보・계약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566160" y="242316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2E5FA8"/>
          </a:solidFill>
          <a:ln/>
        </p:spPr>
      </p:sp>
      <p:sp>
        <p:nvSpPr>
          <p:cNvPr id="16" name="Text 14"/>
          <p:cNvSpPr/>
          <p:nvPr/>
        </p:nvSpPr>
        <p:spPr>
          <a:xfrm>
            <a:off x="3566160" y="24231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실사·정식견적(7월말~8월)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42316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3B6FC4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242316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임대차 계약(8월말)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32918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인테리어・시스템 구축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760720" y="3291840"/>
            <a:ext cx="1463040" cy="548640"/>
          </a:xfrm>
          <a:prstGeom prst="roundRect">
            <a:avLst>
              <a:gd name="adj" fmla="val 10000"/>
            </a:avLst>
          </a:prstGeom>
          <a:solidFill>
            <a:srgbClr val="2E5FA8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0" y="329184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인테리어 시공(9~10월)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23760" y="329184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3B6FC4"/>
          </a:solidFill>
          <a:ln/>
        </p:spPr>
      </p:sp>
      <p:sp>
        <p:nvSpPr>
          <p:cNvPr id="23" name="Text 21"/>
          <p:cNvSpPr/>
          <p:nvPr/>
        </p:nvSpPr>
        <p:spPr>
          <a:xfrm>
            <a:off x="7223760" y="329184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가구·무인시스템(10월)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" y="41605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준비・오픈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29600" y="41605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2E5FA8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416052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마케팅·회원모집(11월)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418320" y="416052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28" name="Text 26"/>
          <p:cNvSpPr/>
          <p:nvPr/>
        </p:nvSpPr>
        <p:spPr>
          <a:xfrm>
            <a:off x="9418320" y="416052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오픈(목표, 11월말)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50292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 안정화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424160" y="5029200"/>
            <a:ext cx="1463040" cy="548640"/>
          </a:xfrm>
          <a:prstGeom prst="roundRect">
            <a:avLst>
              <a:gd name="adj" fmla="val 10000"/>
            </a:avLst>
          </a:prstGeom>
          <a:solidFill>
            <a:srgbClr val="667085"/>
          </a:solidFill>
          <a:ln/>
        </p:spPr>
      </p:sp>
      <p:sp>
        <p:nvSpPr>
          <p:cNvPr id="31" name="Text 29"/>
          <p:cNvSpPr/>
          <p:nvPr/>
        </p:nvSpPr>
        <p:spPr>
          <a:xfrm>
            <a:off x="10424160" y="50292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50→65%+ 가동('27 Q1)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0" y="1417320"/>
            <a:ext cx="0" cy="4206240"/>
          </a:xfrm>
          <a:prstGeom prst="line">
            <a:avLst/>
          </a:prstGeom>
          <a:noFill/>
          <a:ln w="12700">
            <a:solidFill>
              <a:srgbClr val="D9E1EC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321040" y="1417320"/>
            <a:ext cx="0" cy="4206240"/>
          </a:xfrm>
          <a:prstGeom prst="line">
            <a:avLst/>
          </a:prstGeom>
          <a:noFill/>
          <a:ln w="12700">
            <a:solidFill>
              <a:srgbClr val="D9E1EC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2026-07-02T07:49:46Z</dcterms:created>
  <dcterms:modified xsi:type="dcterms:W3CDTF">2026-07-02T07:49:46Z</dcterms:modified>
</cp:coreProperties>
</file>