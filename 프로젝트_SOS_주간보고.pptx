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SOS 주간보고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502920"/>
            <a:ext cx="2834640" cy="777240"/>
          </a:xfrm>
          <a:prstGeom prst="roundRect">
            <a:avLst>
              <a:gd name="adj" fmla="val 7059"/>
            </a:avLst>
          </a:prstGeom>
          <a:solidFill>
            <a:srgbClr val="1F4F9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303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5종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E2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산출물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9E2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(HTML·Excel·Word·PPT×2)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200400" y="502920"/>
            <a:ext cx="2834640" cy="777240"/>
          </a:xfrm>
          <a:prstGeom prst="roundRect">
            <a:avLst>
              <a:gd name="adj" fmla="val 7059"/>
            </a:avLst>
          </a:prstGeom>
          <a:solidFill>
            <a:srgbClr val="1F4F99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5303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0" y="8686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E2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표·계산식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9E2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전면 재검증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126480" y="502920"/>
            <a:ext cx="2834640" cy="777240"/>
          </a:xfrm>
          <a:prstGeom prst="roundRect">
            <a:avLst>
              <a:gd name="adj" fmla="val 7059"/>
            </a:avLst>
          </a:prstGeom>
          <a:solidFill>
            <a:srgbClr val="1F4F99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5303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126480" y="8686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E2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전체 재계산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9E2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(100·120·150평·판교)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052560" y="502920"/>
            <a:ext cx="2834640" cy="777240"/>
          </a:xfrm>
          <a:prstGeom prst="roundRect">
            <a:avLst>
              <a:gd name="adj" fmla="val 7059"/>
            </a:avLst>
          </a:prstGeom>
          <a:solidFill>
            <a:srgbClr val="1F4F99"/>
          </a:solidFill>
          <a:ln/>
        </p:spPr>
      </p:sp>
      <p:sp>
        <p:nvSpPr>
          <p:cNvPr id="13" name="Text 11"/>
          <p:cNvSpPr/>
          <p:nvPr/>
        </p:nvSpPr>
        <p:spPr>
          <a:xfrm>
            <a:off x="9052560" y="5303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3건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052560" y="8686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E2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견적서 확보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9E2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(전기·냉난방·소방)</a:t>
            </a:r>
            <a:endParaRPr lang="en-US" sz="8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17320"/>
          <a:ext cx="11612880" cy="457200"/>
        </p:xfrm>
        <a:graphic>
          <a:graphicData uri="http://schemas.openxmlformats.org/drawingml/2006/table">
            <a:tbl>
              <a:tblPr/>
              <a:tblGrid>
                <a:gridCol w="5806440"/>
                <a:gridCol w="58064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진행사항(6/28~7/4)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예정사항(7/5~7/11)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874520"/>
          <a:ext cx="11612880" cy="4754880"/>
        </p:xfrm>
        <a:graphic>
          <a:graphicData uri="http://schemas.openxmlformats.org/drawingml/2006/table">
            <a:tbl>
              <a:tblPr/>
              <a:tblGrid>
                <a:gridCol w="5806440"/>
                <a:gridCol w="5806440"/>
              </a:tblGrid>
              <a:tr h="4754880">
                <a:tc>
                  <a:txBody>
                    <a:bodyPr/>
                    <a:lstStyle/>
                    <a:p>
                      <a:pPr marL="342900" indent="-342900">
                        <a:spcAft>
                          <a:spcPts val="300"/>
                        </a:spcAft>
                        <a:buSzPct val="100000"/>
                        <a:buChar char="●"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회원보증금 신규 도입 (SP 실계약 5건 검증)</a:t>
                      </a:r>
                      <a:endParaRPr lang="en-US" sz="1200" dirty="0"/>
                    </a:p>
                    <a:p>
                      <a:pPr lvl="1" marL="685800" indent="-342900">
                        <a:spcAft>
                          <a:spcPts val="300"/>
                        </a:spcAft>
                        <a:buSzPct val="100000"/>
                        <a:buChar char="▸"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부가세포함 표준요금×2개월 공식을 SP 실계약서 5건 대조로 검증</a:t>
                      </a:r>
                      <a:endParaRPr lang="en-US" sz="1200" dirty="0"/>
                    </a:p>
                    <a:p>
                      <a:pPr lvl="1" marL="685800" indent="-342900">
                        <a:spcAft>
                          <a:spcPts val="300"/>
                        </a:spcAft>
                        <a:buSzPct val="100000"/>
                        <a:buChar char="▸"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SOS 단기계약 특성 반영: 1주=0 / 1~5개월=1개월치 / 6~11개월=1.5개월치 / 1년이상=2개월치</a:t>
                      </a:r>
                      <a:endParaRPr lang="en-US" sz="1200" dirty="0"/>
                    </a:p>
                    <a:p>
                      <a:pPr lvl="1" marL="685800" indent="-342900">
                        <a:spcAft>
                          <a:spcPts val="300"/>
                        </a:spcAft>
                        <a:buSzPct val="100000"/>
                        <a:buChar char="▸"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초기투자금 조달과는 무관함을 명확화(반환의무 부채로 재정의, 보고서 표현 오류 수정)</a:t>
                      </a:r>
                      <a:endParaRPr lang="en-US" sz="1200" dirty="0"/>
                    </a:p>
                    <a:p>
                      <a:pPr marL="342900" indent="-342900">
                        <a:spcAft>
                          <a:spcPts val="300"/>
                        </a:spcAft>
                        <a:buSzPct val="100000"/>
                        <a:buChar char="●"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CAPEX 단가 실측 재검증 및 전체 재계산</a:t>
                      </a:r>
                      <a:endParaRPr lang="en-US" sz="1200" dirty="0"/>
                    </a:p>
                    <a:p>
                      <a:pPr lvl="1" marL="685800" indent="-342900">
                        <a:spcAft>
                          <a:spcPts val="300"/>
                        </a:spcAft>
                        <a:buSzPct val="100000"/>
                        <a:buChar char="▸"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전기·통신 7만→4만/평 (네트워크공사·전기 견적서 근거 확인)</a:t>
                      </a:r>
                      <a:endParaRPr lang="en-US" sz="1200" dirty="0"/>
                    </a:p>
                    <a:p>
                      <a:pPr lvl="1" marL="685800" indent="-342900">
                        <a:spcAft>
                          <a:spcPts val="300"/>
                        </a:spcAft>
                        <a:buSzPct val="100000"/>
                        <a:buChar char="▸"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보안·CCTV·출입통제 200만→86만 (ADT캡스 실견적서 확인)</a:t>
                      </a:r>
                      <a:endParaRPr lang="en-US" sz="1200" dirty="0"/>
                    </a:p>
                    <a:p>
                      <a:pPr lvl="1" marL="685800" indent="-342900">
                        <a:spcAft>
                          <a:spcPts val="300"/>
                        </a:spcAft>
                        <a:buSzPct val="100000"/>
                        <a:buChar char="▸"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라운지가구 100만→150만 상향(면적 대비 현실화)</a:t>
                      </a:r>
                      <a:endParaRPr lang="en-US" sz="1200" dirty="0"/>
                    </a:p>
                    <a:p>
                      <a:pPr lvl="1" marL="685800" indent="-342900">
                        <a:spcAft>
                          <a:spcPts val="300"/>
                        </a:spcAft>
                        <a:buSzPct val="100000"/>
                        <a:buChar char="▸"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4개 모델(100평형·120평·150평·판교) BEP·손익·투자금 전체 재계산</a:t>
                      </a:r>
                      <a:endParaRPr lang="en-US" sz="1200" dirty="0"/>
                    </a:p>
                    <a:p>
                      <a:pPr marL="342900" indent="-342900">
                        <a:spcAft>
                          <a:spcPts val="300"/>
                        </a:spcAft>
                        <a:buSzPct val="100000"/>
                        <a:buChar char="●"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보고서 투명성·가독성 개선</a:t>
                      </a:r>
                      <a:endParaRPr lang="en-US" sz="1200" dirty="0"/>
                    </a:p>
                    <a:p>
                      <a:pPr lvl="1" marL="685800" indent="-342900">
                        <a:spcAft>
                          <a:spcPts val="300"/>
                        </a:spcAft>
                        <a:buSzPct val="100000"/>
                        <a:buChar char="▸"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월별 손익 흐름(현금흐름 워터폴) 표 신설, 전 항목 계산식 노출</a:t>
                      </a:r>
                      <a:endParaRPr lang="en-US" sz="1200" dirty="0"/>
                    </a:p>
                    <a:p>
                      <a:pPr lvl="1" marL="685800" indent="-342900">
                        <a:spcAft>
                          <a:spcPts val="300"/>
                        </a:spcAft>
                        <a:buSzPct val="100000"/>
                        <a:buChar char="▸"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가구배치도 책상 규격 1200×700mm 실측 반영</a:t>
                      </a:r>
                      <a:endParaRPr lang="en-US" sz="1200" dirty="0"/>
                    </a:p>
                    <a:p>
                      <a:pPr lvl="1" marL="685800" indent="-342900">
                        <a:spcAft>
                          <a:spcPts val="300"/>
                        </a:spcAft>
                        <a:buSzPct val="100000"/>
                        <a:buChar char="▸"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저근거 섹션(전용평당 손익) 삭제 및 섹션 재정비</a:t>
                      </a:r>
                      <a:endParaRPr lang="en-US" sz="1200" dirty="0"/>
                    </a:p>
                    <a:p>
                      <a:pPr marL="342900" indent="-342900">
                        <a:spcAft>
                          <a:spcPts val="300"/>
                        </a:spcAft>
                        <a:buSzPct val="100000"/>
                        <a:buChar char="●"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1~4인실 수요 근거 리서치</a:t>
                      </a:r>
                      <a:endParaRPr lang="en-US" sz="1200" dirty="0"/>
                    </a:p>
                    <a:p>
                      <a:pPr lvl="1" marL="685800" indent="-342900">
                        <a:spcAft>
                          <a:spcPts val="300"/>
                        </a:spcAft>
                        <a:buSzPct val="100000"/>
                        <a:buChar char="▸"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통계청 사업체 규모 분포, 스타트업 팀 규모 등 정황 데이터 확보</a:t>
                      </a:r>
                      <a:endParaRPr lang="en-US" sz="1200" dirty="0"/>
                    </a:p>
                    <a:p>
                      <a:pPr lvl="1" marL="685800" indent="-342900">
                        <a:spcAft>
                          <a:spcPts val="300"/>
                        </a:spcAft>
                        <a:buSzPct val="100000"/>
                        <a:buChar char="▸"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 분당2호점 실제 제안서 확인 — 경쟁사 1~4인실 공급 부재 확인(추가 검증 필요)</a:t>
                      </a:r>
                      <a:endParaRPr lang="en-US" sz="1200" dirty="0"/>
                    </a:p>
                    <a:p>
                      <a:pPr marL="342900" indent="-342900">
                        <a:spcAft>
                          <a:spcPts val="300"/>
                        </a:spcAft>
                        <a:buSzPct val="100000"/>
                        <a:buChar char="●"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 다각화</a:t>
                      </a:r>
                      <a:endParaRPr lang="en-US" sz="1200" dirty="0"/>
                    </a:p>
                    <a:p>
                      <a:pPr lvl="1" marL="685800" indent="-342900">
                        <a:spcAft>
                          <a:spcPts val="300"/>
                        </a:spcAft>
                        <a:buSzPct val="100000"/>
                        <a:buChar char="▸"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보고서 표 Excel 워크북 추출(20개 시트)</a:t>
                      </a:r>
                      <a:endParaRPr lang="en-US" sz="1200" dirty="0"/>
                    </a:p>
                    <a:p>
                      <a:pPr lvl="1" marL="685800" indent="-342900">
                        <a:spcAft>
                          <a:spcPts val="300"/>
                        </a:spcAft>
                        <a:buSzPct val="100000"/>
                        <a:buChar char="▸"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워드 사업계획서 작성 — 실투자금 2억 현금흐름 기준 회수기간(3.7년) 중심 설득 논리</a:t>
                      </a:r>
                      <a:endParaRPr lang="en-US" sz="1200" dirty="0"/>
                    </a:p>
                  </a:txBody>
                  <a:tcPr marL="127000" marR="127000" marT="127000" marB="1270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spcAft>
                          <a:spcPts val="300"/>
                        </a:spcAft>
                        <a:buSzPct val="100000"/>
                        <a:buChar char="●"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1~4인실 수요 데이터 보강</a:t>
                      </a:r>
                      <a:endParaRPr lang="en-US" sz="1200" dirty="0"/>
                    </a:p>
                    <a:p>
                      <a:pPr lvl="1" marL="685800" indent="-342900">
                        <a:spcAft>
                          <a:spcPts val="300"/>
                        </a:spcAft>
                        <a:buSzPct val="100000"/>
                        <a:buChar char="▸"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SP·FF 추가 지점 도면·제안서 확보하여 룸타입별 분포 비교</a:t>
                      </a:r>
                      <a:endParaRPr lang="en-US" sz="1200" dirty="0"/>
                    </a:p>
                    <a:p>
                      <a:pPr marL="342900" indent="-342900">
                        <a:spcAft>
                          <a:spcPts val="300"/>
                        </a:spcAft>
                        <a:buSzPct val="100000"/>
                        <a:buChar char="●"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CAPEX 미검증 항목 정식 견적 전환</a:t>
                      </a:r>
                      <a:endParaRPr lang="en-US" sz="1200" dirty="0"/>
                    </a:p>
                    <a:p>
                      <a:pPr lvl="1" marL="685800" indent="-342900">
                        <a:spcAft>
                          <a:spcPts val="300"/>
                        </a:spcAft>
                        <a:buSzPct val="100000"/>
                        <a:buChar char="▸"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도어락·가구·라운지가구 등 가견적 항목 실측 견적 확보</a:t>
                      </a:r>
                      <a:endParaRPr lang="en-US" sz="1200" dirty="0"/>
                    </a:p>
                    <a:p>
                      <a:pPr marL="342900" indent="-342900">
                        <a:spcAft>
                          <a:spcPts val="300"/>
                        </a:spcAft>
                        <a:buSzPct val="100000"/>
                        <a:buChar char="●"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매물 실사</a:t>
                      </a:r>
                      <a:endParaRPr lang="en-US" sz="1200" dirty="0"/>
                    </a:p>
                    <a:p>
                      <a:pPr lvl="1" marL="685800" indent="-342900">
                        <a:spcAft>
                          <a:spcPts val="300"/>
                        </a:spcAft>
                        <a:buSzPct val="100000"/>
                        <a:buChar char="▸"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근생 용도·전대 허용·권리금 여부 확인</a:t>
                      </a:r>
                      <a:endParaRPr lang="en-US" sz="1200" dirty="0"/>
                    </a:p>
                    <a:p>
                      <a:pPr lvl="1" marL="685800" indent="-342900">
                        <a:spcAft>
                          <a:spcPts val="300"/>
                        </a:spcAft>
                        <a:buSzPct val="100000"/>
                        <a:buChar char="▸"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소방·공조 가견적 확보(스프링클러 설치대상 여부 포함)</a:t>
                      </a:r>
                      <a:endParaRPr lang="en-US" sz="1200" dirty="0"/>
                    </a:p>
                    <a:p>
                      <a:pPr marL="342900" indent="-342900">
                        <a:spcAft>
                          <a:spcPts val="300"/>
                        </a:spcAft>
                        <a:buSzPct val="100000"/>
                        <a:buChar char="●"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마감</a:t>
                      </a:r>
                      <a:endParaRPr lang="en-US" sz="1200" dirty="0"/>
                    </a:p>
                    <a:p>
                      <a:pPr lvl="1" marL="685800" indent="-342900">
                        <a:spcAft>
                          <a:spcPts val="300"/>
                        </a:spcAft>
                        <a:buSzPct val="100000"/>
                        <a:buChar char="▸"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워드 사업계획서 최종 검토</a:t>
                      </a:r>
                      <a:endParaRPr lang="en-US" sz="1200" dirty="0"/>
                    </a:p>
                    <a:p>
                      <a:pPr lvl="1" marL="685800" indent="-342900">
                        <a:spcAft>
                          <a:spcPts val="300"/>
                        </a:spcAft>
                        <a:buSzPct val="100000"/>
                        <a:buChar char="▸"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부사장 보고용 발표 PPT 요약본 제작</a:t>
                      </a:r>
                      <a:endParaRPr lang="en-US" sz="1200" dirty="0"/>
                    </a:p>
                  </a:txBody>
                  <a:tcPr marL="127000" marR="127000" marT="127000" marB="12700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E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로드맵(2026년) — SOS 코워킹 신규 출점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566928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러프 스케치 — 확정 일정 아님, 매물 실사 결과에 따라 변동 가능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737360" y="960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 (7~9월)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0" y="960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 (10~12월)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321040" y="960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'27 Q1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11612880" cy="0"/>
          </a:xfrm>
          <a:prstGeom prst="line">
            <a:avLst/>
          </a:prstGeom>
          <a:noFill/>
          <a:ln w="19050">
            <a:solidFill>
              <a:srgbClr val="1F4F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54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사업성 검증・투자승인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737360" y="155448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1F4F99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1554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모델링·CAPEX검증(7월)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 rot="-480000">
            <a:off x="2697480" y="1298448"/>
            <a:ext cx="640080" cy="320040"/>
          </a:xfrm>
          <a:prstGeom prst="rect">
            <a:avLst/>
          </a:prstGeom>
          <a:solidFill>
            <a:srgbClr val="D7F2E1"/>
          </a:solidFill>
          <a:ln w="9525">
            <a:solidFill>
              <a:srgbClr val="16834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8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55448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3B6FC4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5544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부사장 투자승인(7월말)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24231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매물 확보・계약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108960" y="242316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2E5FA8"/>
          </a:solidFill>
          <a:ln/>
        </p:spPr>
      </p:sp>
      <p:sp>
        <p:nvSpPr>
          <p:cNvPr id="16" name="Text 14"/>
          <p:cNvSpPr/>
          <p:nvPr/>
        </p:nvSpPr>
        <p:spPr>
          <a:xfrm>
            <a:off x="3108960" y="24231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실사·정식견적(8월)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242316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3B6FC4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4231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임대차 계약(9월)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3291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인테리어・시스템 구축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0" y="329184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2E5FA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291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인테리어 시공(10~11월)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32320" y="329184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3B6FC4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3291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가구·무인시스템(11월)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1605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 준비・오픈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686800" y="41605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2E5FA8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0" y="41605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마케팅·회원모집(12월)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241280" y="416052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B45309"/>
          </a:solidFill>
          <a:ln/>
        </p:spPr>
      </p:sp>
      <p:sp>
        <p:nvSpPr>
          <p:cNvPr id="28" name="Text 26"/>
          <p:cNvSpPr/>
          <p:nvPr/>
        </p:nvSpPr>
        <p:spPr>
          <a:xfrm>
            <a:off x="10241280" y="41605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오픈(목표)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5029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가동률 안정화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241280" y="50292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667085"/>
          </a:solidFill>
          <a:ln/>
        </p:spPr>
      </p:sp>
      <p:sp>
        <p:nvSpPr>
          <p:cNvPr id="31" name="Text 29"/>
          <p:cNvSpPr/>
          <p:nvPr/>
        </p:nvSpPr>
        <p:spPr>
          <a:xfrm>
            <a:off x="10241280" y="5029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50→65%+ 가동('27 Q1)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0" y="1417320"/>
            <a:ext cx="0" cy="4206240"/>
          </a:xfrm>
          <a:prstGeom prst="line">
            <a:avLst/>
          </a:prstGeom>
          <a:noFill/>
          <a:ln w="12700">
            <a:solidFill>
              <a:srgbClr val="D9E1EC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8321040" y="1417320"/>
            <a:ext cx="0" cy="4206240"/>
          </a:xfrm>
          <a:prstGeom prst="line">
            <a:avLst/>
          </a:prstGeom>
          <a:noFill/>
          <a:ln w="12700">
            <a:solidFill>
              <a:srgbClr val="D9E1EC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274320" y="594360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12월 오픈은 상반기 매물 확정·계약이 예정대로 진행될 때의 목표치. 매물 실사 결과에 따라 1~2개월 지연 가능.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2026-07-02T07:38:57Z</dcterms:created>
  <dcterms:modified xsi:type="dcterms:W3CDTF">2026-07-02T07:38:57Z</dcterms:modified>
</cp:coreProperties>
</file>