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SOS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1~4인 소형 프로젝트룸 공유오피스 — 신규 투자 승인 요청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실투자금 2.02억원 · 현금흐름 기준 회수기간 3.7년(70% 가동 기준)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C2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패스트파이브·스파크플러스가 진입하지 않는 100~150평 소형 매물 시장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면적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경쟁사 250~300평급 대비 1/3 이하(100~150평)로 진입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517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실투자금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651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2.02억원 (임차보증금 0.75억은 회수 가능 자산, 별도)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 회수기간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566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3.7년 (가동률 70% 기준, 현금흐름 기준)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480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손익분기(BEP)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57600" y="4480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64.8% — 업계 평균 가동률(85%+) 대비 20%p 여유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11064240" cy="777240"/>
          </a:xfrm>
          <a:prstGeom prst="rect">
            <a:avLst/>
          </a:prstGeom>
          <a:solidFill>
            <a:srgbClr val="EEF3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94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0" y="53949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50%까지 하락해도 월 현금손실 -3만원 수준(사실상 손익분기)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1~4인실 수요 근거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정황 증거 조합 — 직접 소진율 데이터는 아니며 추가 검증 필요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93192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사업체 규모 분포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(통계청 전국사업체조사)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635만개 사업체 중 5인 미만이 압도적 다수, 2024년 한 해 15만2천개 증가·나홀로사장 증가세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스타트업 팀 규모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팀 규모는 평균 4~8명 수준 — SOS 타깃(1~4인)과 인접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경쟁사 공급 현황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(SP 분당2호점 실제 제안서)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개별 1인실 없음(공용 좌석 4석뿐), 제안 호실도 5·6·8인실만 — 경쟁사가 1~4인실을 거의 짓지 않는 시장 공백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수요 정황(온라인 후기)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1인실은 매물 자체가 희소해 대기 후 계약하는 사례 다수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경쟁사가 1~4인실을 안 짓는 이유가 "공백 기회"인지 "수요 부족 검증 결과"인지는 이 자료만으로 판단 불가 — 다음 단계로 추가 지점 도면 확보 예정.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실투자금 정확한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"2억 투자"는 초기투자금(CAPEX)만을 가리킵니다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50292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초기투자금(CAPEX)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2.02억원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 불가능한 실투자금 — 이번 승인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임차보증금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0.75억원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종료 시 100% 환급되는 자산성 지출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운전자금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0.05억원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예비 현금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소요자금(참고)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2.85억원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자금 조달 계획 수립 시 참고용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임차보증금은 투자 리스크가 아닌 자산성 지출이므로 실투자금 판단 시 분리해서 봐야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현금흐름 기준 회수 기간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감가상각은 비현금 비용 — 영업이익이 아닌 실제 현금흐름으로 계산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01752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영업이익(회계)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현금흐름(실제)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현금 회수기간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50%(최악 가정)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-341만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-3만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회수 불가(적자 지속)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-110만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+228만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88.8개월(7.4년)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65%(BEP 부근)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+343만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59.0개월(4.9년)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70%(기준 시나리오)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+121만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8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+459만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68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44.1개월(3.7년)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+236만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+574만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35.3개월(2.9년)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F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70%만 넘으면 3년대에 실투자금을 현금으로 회수합니다. 국내 주요 공유오피스 안정화 이후 평균 가동률(85%+) 대비 70%는 보수적인 기준선입니다.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다운사이드 방어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최악의 경우에도 손실 규모가 제한적인 이유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37160" cy="13716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50%까지 떨어져도 월 현금손실은 -3만원 수준 — 완전한 현금 소진 상황이 아님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37160" cy="13716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 60%부터는 이미 현금흐름 흑자로 전환 — 손익분기(64.8%)보다 낮은 가동률에서도 현금은 마르지 않음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37160" cy="13716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703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회원보증금(계약기간별 회원 1인당 50만~290만원) 유입이 추가 유동성 버퍼로 작용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800600"/>
            <a:ext cx="137160" cy="13716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6634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 항목 중 소방(9.05만/평)·냉난방(19.70만/평)·전기통신(4.00만/평)·보안(86만)은 실제 견적서 기반 — 예산 초과 리스크 최소화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상방 시나리오 — 판교 참고사례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CAPEX 수준(2.01억)에서 경쟁 강도가 낮은 상권 적용 시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560320"/>
        </p:xfrm>
        <a:graphic>
          <a:graphicData uri="http://schemas.openxmlformats.org/drawingml/2006/table">
            <a:tbl>
              <a:tblPr/>
              <a:tblGrid>
                <a:gridCol w="2926080"/>
                <a:gridCol w="2743200"/>
                <a:gridCol w="2743200"/>
                <a:gridCol w="26517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가동률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영업이익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현금흐름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현금 회수기간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+29만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+364만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55.2개월(4.6년)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+374만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+709만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28.3개월(2.4년)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70%(기준)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+720만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+1,055만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834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19.0개월(1.6년)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+892만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+1,227만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16.4개월(1.4년)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판교형 상권(규제로 경쟁사 진입장벽이 있는 지역)을 추가 확보할수록 포트폴리오 전체의 평균 회수기간이 단축됩니다.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4F9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및 대응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3840480"/>
        </p:xfrm>
        <a:graphic>
          <a:graphicData uri="http://schemas.openxmlformats.org/drawingml/2006/table">
            <a:tbl>
              <a:tblPr/>
              <a:tblGrid>
                <a:gridCol w="3474720"/>
                <a:gridCol w="7589520"/>
              </a:tblGrid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리스크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용도·전대 이슈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근생 용도 매물로 소싱, 회원은 전대 아닌 시설이용계약으로 해소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CAPEX 예산 초과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소방·냉난방·전기통신·보안은 실측 완료, 도어락·가구는 계약 전 정식 견적 확보 예정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1~4인실 수요 불확실성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정황 증거(사업체 규모 분포·SP 매물 부재) 확보, 추가 지점 도면으로 검증 진행 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건물 소방 등급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스프링클러 설치대상 여부 등 계약 전 소방·공조 가견적 필수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F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사항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실투자금 2.02억원 승인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가동률 70% 기준 현금 회수기간 3.7년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가동률 60%부터 현금흐름 흑자 — 하방 리스크 제한적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 판교형 상권 확장 시 회수기간 1.6년까지 단축 가능(업사이드)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2026-07-02T07:24:17Z</dcterms:created>
  <dcterms:modified xsi:type="dcterms:W3CDTF">2026-07-02T07:24:17Z</dcterms:modified>
</cp:coreProperties>
</file>